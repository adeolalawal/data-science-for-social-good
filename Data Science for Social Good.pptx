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Libre Franklin"/>
      <p:regular r:id="rId18"/>
      <p:bold r:id="rId19"/>
      <p:italic r:id="rId20"/>
      <p:boldItalic r:id="rId21"/>
    </p:embeddedFont>
    <p:embeddedFont>
      <p:font typeface="Franklin Gothic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uZTa+C/uAY6qf5BcK/N6sMfRz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11" Type="http://schemas.openxmlformats.org/officeDocument/2006/relationships/slide" Target="slides/slide7.xml"/><Relationship Id="rId22" Type="http://schemas.openxmlformats.org/officeDocument/2006/relationships/font" Target="fonts/FranklinGothic-bold.fntdata"/><Relationship Id="rId10" Type="http://schemas.openxmlformats.org/officeDocument/2006/relationships/slide" Target="slides/slide6.xml"/><Relationship Id="rId21" Type="http://schemas.openxmlformats.org/officeDocument/2006/relationships/font" Target="fonts/LibreFranklin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ibreFranklin-bold.fntdata"/><Relationship Id="rId6" Type="http://schemas.openxmlformats.org/officeDocument/2006/relationships/slide" Target="slides/slide2.xml"/><Relationship Id="rId18" Type="http://schemas.openxmlformats.org/officeDocument/2006/relationships/font" Target="fonts/LibreFranklin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713a50b3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4713a50b3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4713a50b3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713a50b3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713a50b3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4713a50b3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713a50b31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713a50b31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4713a50b31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713a50b31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713a50b31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4713a50b31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713a50b3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4713a50b3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4713a50b31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713a50b31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4713a50b31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4713a50b31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713a50b31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4713a50b31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4713a50b31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713a50b31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4713a50b31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4713a50b31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" name="Google Shape;16;p18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7" name="Google Shape;17;p1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20" name="Google Shape;20;p18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>
            <p:ph idx="2" type="pic"/>
          </p:nvPr>
        </p:nvSpPr>
        <p:spPr>
          <a:xfrm>
            <a:off x="0" y="0"/>
            <a:ext cx="12192000" cy="6880543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20"/>
          <p:cNvSpPr txBox="1"/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nklin Gothic"/>
              <a:buNone/>
              <a:defRPr b="1" i="0" sz="60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 2">
  <p:cSld name="Title and Two Content 2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3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7" name="Google Shape;27;p2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" name="Google Shape;28;p2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9" name="Google Shape;29;p2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0" name="Google Shape;30;p23"/>
          <p:cNvSpPr txBox="1"/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23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Picture">
  <p:cSld name="Title Content and Picture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9" name="Google Shape;39;p25"/>
          <p:cNvCxnSpPr/>
          <p:nvPr/>
        </p:nvCxnSpPr>
        <p:spPr>
          <a:xfrm>
            <a:off x="594360" y="299745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25"/>
          <p:cNvSpPr/>
          <p:nvPr>
            <p:ph idx="2" type="pic"/>
          </p:nvPr>
        </p:nvSpPr>
        <p:spPr>
          <a:xfrm>
            <a:off x="6096000" y="0"/>
            <a:ext cx="61182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">
  <p:cSld name="Title and Content 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45" name="Google Shape;45;p24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6" name="Google Shape;46;p24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7" name="Google Shape;47;p24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8" name="Google Shape;48;p24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24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0" name="Google Shape;50;p24"/>
          <p:cNvSpPr txBox="1"/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1" name="Google Shape;51;p24"/>
          <p:cNvCxnSpPr/>
          <p:nvPr/>
        </p:nvCxnSpPr>
        <p:spPr>
          <a:xfrm>
            <a:off x="6347460" y="631317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" name="Google Shape;52;p24"/>
          <p:cNvSpPr txBox="1"/>
          <p:nvPr>
            <p:ph idx="1" type="body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2" type="body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" name="Google Shape;58;p27"/>
          <p:cNvGrpSpPr/>
          <p:nvPr/>
        </p:nvGrpSpPr>
        <p:grpSpPr>
          <a:xfrm rot="10800000">
            <a:off x="6092752" y="0"/>
            <a:ext cx="6099248" cy="6099248"/>
            <a:chOff x="0" y="12289"/>
            <a:chExt cx="3550" cy="3551"/>
          </a:xfrm>
        </p:grpSpPr>
        <p:sp>
          <p:nvSpPr>
            <p:cNvPr id="59" name="Google Shape;59;p2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2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2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3" name="Google Shape;63;p27"/>
          <p:cNvCxnSpPr/>
          <p:nvPr/>
        </p:nvCxnSpPr>
        <p:spPr>
          <a:xfrm>
            <a:off x="594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Agenda 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9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66" name="Google Shape;66;p19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8" name="Google Shape;68;p19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0" name="Google Shape;70;p19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71" name="Google Shape;71;p19"/>
          <p:cNvSpPr txBox="1"/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594359" y="2281918"/>
            <a:ext cx="6787747" cy="37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5" name="Google Shape;75;p19"/>
          <p:cNvCxnSpPr/>
          <p:nvPr/>
        </p:nvCxnSpPr>
        <p:spPr>
          <a:xfrm>
            <a:off x="594360" y="2148840"/>
            <a:ext cx="2130552" cy="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2">
  <p:cSld name="Summary 2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21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8" name="Google Shape;78;p21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79" name="Google Shape;79;p2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0" name="Google Shape;80;p2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1" name="Google Shape;81;p2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2" name="Google Shape;82;p21"/>
          <p:cNvSpPr txBox="1"/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1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8" name="Google Shape;88;p2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89" name="Google Shape;89;p2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0" name="Google Shape;90;p2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1" name="Google Shape;91;p2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92" name="Google Shape;92;p22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6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96" name="Google Shape;96;p2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2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8" name="Google Shape;98;p2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9" name="Google Shape;99;p26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0" name="Google Shape;100;p26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/>
          <p:nvPr>
            <p:ph idx="2" type="pic"/>
          </p:nvPr>
        </p:nvSpPr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9" name="Google Shape;109;p28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Table">
  <p:cSld name="Title Content and Table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2" name="Google Shape;112;p2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3" name="Google Shape;113;p2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2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5" name="Google Shape;115;p29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29"/>
          <p:cNvCxnSpPr/>
          <p:nvPr/>
        </p:nvCxnSpPr>
        <p:spPr>
          <a:xfrm>
            <a:off x="3670935" y="631317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2" type="body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29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2">
  <p:cSld name="Table 2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/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0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5" name="Google Shape;125;p30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" type="body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>
    <mc:Choice Requires="p14">
      <p:transition spd="slow" p14:dur="24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hyperlink" Target="https://www.linkedin.com/in/adeola-lawal/" TargetMode="External"/><Relationship Id="rId5" Type="http://schemas.openxmlformats.org/officeDocument/2006/relationships/hyperlink" Target="https://x.com/azlawal_lawa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>
            <p:ph type="ctrTitle"/>
          </p:nvPr>
        </p:nvSpPr>
        <p:spPr>
          <a:xfrm>
            <a:off x="6515100" y="5750999"/>
            <a:ext cx="5486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Adeola Lawal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WAI Nigeria Ambassador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5680550" y="1932900"/>
            <a:ext cx="46185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Science for Social Good: </a:t>
            </a:r>
            <a:endParaRPr b="1" sz="3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Empowering Communities through Agriculture &amp; Finance</a:t>
            </a:r>
            <a:endParaRPr b="1" sz="4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713a50b31_0_64"/>
          <p:cNvSpPr txBox="1"/>
          <p:nvPr>
            <p:ph type="ctrTitle"/>
          </p:nvPr>
        </p:nvSpPr>
        <p:spPr>
          <a:xfrm>
            <a:off x="5143500" y="3301625"/>
            <a:ext cx="33951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400"/>
              <a:t>Adeola Lawal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4713a50b31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9250" y="133015"/>
            <a:ext cx="3704925" cy="659196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4713a50b31_0_64"/>
          <p:cNvSpPr txBox="1"/>
          <p:nvPr/>
        </p:nvSpPr>
        <p:spPr>
          <a:xfrm>
            <a:off x="4715575" y="4106000"/>
            <a:ext cx="35520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909" lvl="0" marL="283210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B56"/>
                </a:solidFill>
              </a:rPr>
              <a:t>LinkedIn:</a:t>
            </a:r>
            <a:r>
              <a:rPr lang="en-US" sz="1800">
                <a:solidFill>
                  <a:srgbClr val="002B56"/>
                </a:solidFill>
              </a:rPr>
              <a:t> </a:t>
            </a:r>
            <a:r>
              <a:rPr lang="en-US" sz="1800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https://www.linkedin.com/in/adeola-lawal/</a:t>
            </a:r>
            <a:r>
              <a:rPr lang="en-US" sz="1800">
                <a:solidFill>
                  <a:srgbClr val="002B56"/>
                </a:solidFill>
              </a:rPr>
              <a:t> </a:t>
            </a:r>
            <a:endParaRPr sz="1800">
              <a:solidFill>
                <a:srgbClr val="002B56"/>
              </a:solidFill>
            </a:endParaRPr>
          </a:p>
          <a:p>
            <a:pPr indent="-168909" lvl="0" marL="283210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B56"/>
                </a:solidFill>
              </a:rPr>
              <a:t>X</a:t>
            </a:r>
            <a:r>
              <a:rPr lang="en-US" sz="1800">
                <a:solidFill>
                  <a:srgbClr val="002B56"/>
                </a:solidFill>
              </a:rPr>
              <a:t>: </a:t>
            </a:r>
            <a:r>
              <a:rPr lang="en-US" sz="1800" u="sng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https://x.com/azlawal_lawal</a:t>
            </a:r>
            <a:r>
              <a:rPr lang="en-US" sz="1800">
                <a:solidFill>
                  <a:srgbClr val="002B56"/>
                </a:solidFill>
              </a:rPr>
              <a:t> </a:t>
            </a:r>
            <a:endParaRPr sz="1800">
              <a:solidFill>
                <a:srgbClr val="002B56"/>
              </a:solidFill>
            </a:endParaRPr>
          </a:p>
          <a:p>
            <a:pPr indent="-168909" lvl="0" marL="283210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B5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lant" id="146" name="Google Shape;146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" r="23" t="0"/>
          <a:stretch/>
        </p:blipFill>
        <p:spPr>
          <a:xfrm>
            <a:off x="0" y="-10"/>
            <a:ext cx="6830800" cy="425145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>
            <p:ph type="title"/>
          </p:nvPr>
        </p:nvSpPr>
        <p:spPr>
          <a:xfrm>
            <a:off x="6830800" y="3569600"/>
            <a:ext cx="27639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ranklin Gothic"/>
              <a:buNone/>
            </a:pPr>
            <a:r>
              <a:t/>
            </a:r>
            <a:endParaRPr b="0" sz="2800"/>
          </a:p>
        </p:txBody>
      </p:sp>
      <p:sp>
        <p:nvSpPr>
          <p:cNvPr id="148" name="Google Shape;148;p3"/>
          <p:cNvSpPr txBox="1"/>
          <p:nvPr/>
        </p:nvSpPr>
        <p:spPr>
          <a:xfrm>
            <a:off x="6830800" y="4539900"/>
            <a:ext cx="5249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What is Data Science?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What is “Social Good”?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-US" sz="2400">
                <a:solidFill>
                  <a:schemeClr val="lt1"/>
                </a:solidFill>
              </a:rPr>
              <a:t>Why combine them</a:t>
            </a:r>
            <a:endParaRPr sz="2400">
              <a:solidFill>
                <a:schemeClr val="lt1"/>
              </a:solidFill>
            </a:endParaRPr>
          </a:p>
          <a:p>
            <a:pPr indent="0" lvl="0" marL="28346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lant" id="154" name="Google Shape;154;g34713a50b31_0_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9" r="29" t="0"/>
          <a:stretch/>
        </p:blipFill>
        <p:spPr>
          <a:xfrm>
            <a:off x="0" y="-10"/>
            <a:ext cx="6830800" cy="4251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4713a50b31_0_4"/>
          <p:cNvSpPr txBox="1"/>
          <p:nvPr>
            <p:ph type="title"/>
          </p:nvPr>
        </p:nvSpPr>
        <p:spPr>
          <a:xfrm>
            <a:off x="6830800" y="3122975"/>
            <a:ext cx="34944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ranklin Gothic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Definition. 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713a50b31_0_4"/>
          <p:cNvSpPr txBox="1"/>
          <p:nvPr/>
        </p:nvSpPr>
        <p:spPr>
          <a:xfrm>
            <a:off x="6830800" y="4539900"/>
            <a:ext cx="52497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Data science for social good is about using data to solve pressing social challenges and improve lives</a:t>
            </a:r>
            <a:endParaRPr sz="2400">
              <a:solidFill>
                <a:schemeClr val="lt1"/>
              </a:solidFill>
            </a:endParaRPr>
          </a:p>
          <a:p>
            <a:pPr indent="0" lvl="0" marL="28346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5976850" y="5728450"/>
            <a:ext cx="49206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Tools &amp; Technologies</a:t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335925" y="1072550"/>
            <a:ext cx="6248700" cy="54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Programming: Python, R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Platforms: Jupyter, Google Colab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Libraries: Pandas, Scikit-learn, TensorFlow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Visualization: Tableau, Power BI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Databases: PostgreSQL, MongoDB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/>
        </p:nvSpPr>
        <p:spPr>
          <a:xfrm>
            <a:off x="201450" y="381000"/>
            <a:ext cx="56604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Agriculture: Enhancing Food Security &amp; Sustainability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75175" y="2954250"/>
            <a:ext cx="8652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2B56"/>
                </a:solidFill>
              </a:rPr>
              <a:t>Challenge:</a:t>
            </a:r>
            <a:endParaRPr b="1" sz="2000">
              <a:solidFill>
                <a:srgbClr val="002B56"/>
              </a:solidFill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2B56"/>
              </a:buClr>
              <a:buSzPts val="2000"/>
              <a:buChar char="-"/>
            </a:pPr>
            <a:r>
              <a:rPr lang="en-US" sz="2000">
                <a:solidFill>
                  <a:srgbClr val="002B56"/>
                </a:solidFill>
              </a:rPr>
              <a:t>Global food security threatened by climate change, resource scarcity, and inefficient farming practices.</a:t>
            </a:r>
            <a:endParaRPr sz="2000">
              <a:solidFill>
                <a:srgbClr val="002B56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B56"/>
              </a:solidFill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2B56"/>
              </a:buClr>
              <a:buSzPts val="2000"/>
              <a:buChar char="-"/>
            </a:pPr>
            <a:r>
              <a:rPr lang="en-US" sz="2000">
                <a:solidFill>
                  <a:srgbClr val="002B56"/>
                </a:solidFill>
              </a:rPr>
              <a:t>Smallholder farmers often lack access to critical information and resources.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713a50b31_0_19"/>
          <p:cNvSpPr txBox="1"/>
          <p:nvPr/>
        </p:nvSpPr>
        <p:spPr>
          <a:xfrm>
            <a:off x="245100" y="547500"/>
            <a:ext cx="5660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Agriculture: Enhancing Food Security &amp; Sustainability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4713a50b31_0_19"/>
          <p:cNvSpPr txBox="1"/>
          <p:nvPr/>
        </p:nvSpPr>
        <p:spPr>
          <a:xfrm>
            <a:off x="502500" y="2209800"/>
            <a:ext cx="8336700" cy="51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Data Science Solutions: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Precision Farming: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Using data from sensors, satellite imagery, and weather forecasts to optimize planting, irrigation, and fertilization.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Example: Predicting crop yields based on environmental factors using machine learning models.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Smart Supply Chains:</a:t>
            </a:r>
            <a:r>
              <a:rPr lang="en-US" sz="1500">
                <a:solidFill>
                  <a:schemeClr val="dk1"/>
                </a:solidFill>
              </a:rPr>
              <a:t> Leveraging data analytics to improve logistics, reduce food waste, and connect farmers to markets.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Disease Detection:</a:t>
            </a:r>
            <a:r>
              <a:rPr lang="en-US" sz="1500">
                <a:solidFill>
                  <a:schemeClr val="dk1"/>
                </a:solidFill>
              </a:rPr>
              <a:t> Employing image recognition and machine learning to identify crop diseases early, enabling timely intervention.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Financial Inclusion:</a:t>
            </a:r>
            <a:r>
              <a:rPr lang="en-US" sz="1500">
                <a:solidFill>
                  <a:schemeClr val="dk1"/>
                </a:solidFill>
              </a:rPr>
              <a:t> Utilizing data to assess creditworthiness and provide access to financial services for farmers.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2B5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713a50b31_0_27"/>
          <p:cNvSpPr txBox="1"/>
          <p:nvPr/>
        </p:nvSpPr>
        <p:spPr>
          <a:xfrm>
            <a:off x="245100" y="547500"/>
            <a:ext cx="56604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Finance: Building a More Inclusive and Stable Economic Ecosystem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4713a50b31_0_27"/>
          <p:cNvSpPr txBox="1"/>
          <p:nvPr/>
        </p:nvSpPr>
        <p:spPr>
          <a:xfrm>
            <a:off x="502500" y="2209800"/>
            <a:ext cx="8336700" cy="3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The Challenge: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Many individuals and small businesses lack access to traditional financial services, hindering economic growth and perpetuating inequality.</a:t>
            </a:r>
            <a:endParaRPr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Financial instability can have devastating consequences for vulnerable populations.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713a50b31_0_35"/>
          <p:cNvSpPr txBox="1"/>
          <p:nvPr/>
        </p:nvSpPr>
        <p:spPr>
          <a:xfrm>
            <a:off x="245100" y="547500"/>
            <a:ext cx="56604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Finance: Building a More Inclusive and Stable Economic Ecosystem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4713a50b31_0_35"/>
          <p:cNvSpPr txBox="1"/>
          <p:nvPr/>
        </p:nvSpPr>
        <p:spPr>
          <a:xfrm>
            <a:off x="502500" y="2209800"/>
            <a:ext cx="8336700" cy="4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Data Science Solutions: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Alternative Credit Scoring:</a:t>
            </a:r>
            <a:r>
              <a:rPr lang="en-US" sz="1500">
                <a:solidFill>
                  <a:schemeClr val="dk1"/>
                </a:solidFill>
              </a:rPr>
              <a:t> Developing algorithms to assess credit risk using non-traditional data sources like mobile phone records and social media activity.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US" sz="1500">
                <a:solidFill>
                  <a:schemeClr val="dk1"/>
                </a:solidFill>
              </a:rPr>
              <a:t>Example</a:t>
            </a:r>
            <a:r>
              <a:rPr lang="en-US" sz="1500">
                <a:solidFill>
                  <a:schemeClr val="dk1"/>
                </a:solidFill>
              </a:rPr>
              <a:t>: Creating credit scores for individuals with limited financial history, enabling them to access loans and other financial products.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Fraud Prevention:</a:t>
            </a:r>
            <a:r>
              <a:rPr lang="en-US" sz="1500">
                <a:solidFill>
                  <a:schemeClr val="dk1"/>
                </a:solidFill>
              </a:rPr>
              <a:t> Detecting and preventing financial fraud using machine learning techniques to identify suspicious transactions.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Risk Management:</a:t>
            </a:r>
            <a:r>
              <a:rPr lang="en-US" sz="1500">
                <a:solidFill>
                  <a:schemeClr val="dk1"/>
                </a:solidFill>
              </a:rPr>
              <a:t> Analyzing data to predict financial risks, improve investment strategies, and enhance the stability of financial systems.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Personalized Finance:</a:t>
            </a:r>
            <a:r>
              <a:rPr lang="en-US" sz="1500">
                <a:solidFill>
                  <a:schemeClr val="dk1"/>
                </a:solidFill>
              </a:rPr>
              <a:t> Providing tailored financial advice and services through AI-powered tools, empowering individuals to make informed decisions.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713a50b31_0_42"/>
          <p:cNvSpPr txBox="1"/>
          <p:nvPr/>
        </p:nvSpPr>
        <p:spPr>
          <a:xfrm>
            <a:off x="245100" y="1377900"/>
            <a:ext cx="566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The Impact &amp; Ethical Considerations</a:t>
            </a:r>
            <a:endParaRPr b="1" sz="41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98" name="Google Shape;198;g34713a50b31_0_42"/>
          <p:cNvSpPr txBox="1"/>
          <p:nvPr/>
        </p:nvSpPr>
        <p:spPr>
          <a:xfrm>
            <a:off x="502500" y="2209800"/>
            <a:ext cx="83367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Increased agricultural productivity and food security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Greater financial inclusion and economic empowerment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Reduced poverty and inequality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More sustainable and resilient communities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713a50b31_0_49"/>
          <p:cNvSpPr txBox="1"/>
          <p:nvPr/>
        </p:nvSpPr>
        <p:spPr>
          <a:xfrm>
            <a:off x="284800" y="1704600"/>
            <a:ext cx="566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Ethical Considerations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05" name="Google Shape;205;g34713a50b31_0_49"/>
          <p:cNvSpPr txBox="1"/>
          <p:nvPr/>
        </p:nvSpPr>
        <p:spPr>
          <a:xfrm>
            <a:off x="502500" y="2209800"/>
            <a:ext cx="83367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Data privacy and Security:</a:t>
            </a:r>
            <a:r>
              <a:rPr lang="en-US" sz="1700">
                <a:solidFill>
                  <a:schemeClr val="dk1"/>
                </a:solidFill>
              </a:rPr>
              <a:t> Protecting sensitive information and ensuring responsible data handling.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Algorithmic Bias and Fairness:</a:t>
            </a:r>
            <a:r>
              <a:rPr lang="en-US" sz="1700">
                <a:solidFill>
                  <a:schemeClr val="dk1"/>
                </a:solidFill>
              </a:rPr>
              <a:t> Developing models that are fair, transparent, and avoid discrimination.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Accountability and Transparency: </a:t>
            </a:r>
            <a:r>
              <a:rPr lang="en-US" sz="1700">
                <a:solidFill>
                  <a:schemeClr val="dk1"/>
                </a:solidFill>
              </a:rPr>
              <a:t>Ensuring that data-driven systems are accountable and their decisions can be understood.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Equitable Access:</a:t>
            </a:r>
            <a:r>
              <a:rPr lang="en-US" sz="1700">
                <a:solidFill>
                  <a:schemeClr val="dk1"/>
                </a:solidFill>
              </a:rPr>
              <a:t> Making sure the benefits of data science are shared by all, regardless of their socioeconomic status.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713a50b31_0_56"/>
          <p:cNvSpPr txBox="1"/>
          <p:nvPr/>
        </p:nvSpPr>
        <p:spPr>
          <a:xfrm>
            <a:off x="245100" y="1529375"/>
            <a:ext cx="5660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Call to Action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212" name="Google Shape;212;g34713a50b31_0_56"/>
          <p:cNvSpPr txBox="1"/>
          <p:nvPr/>
        </p:nvSpPr>
        <p:spPr>
          <a:xfrm>
            <a:off x="502500" y="2209800"/>
            <a:ext cx="8336700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Collaboration is Key: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Encourage partnerships between data scientists, domain experts, policymakers, and community organizations.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Data for Good: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Promote the collection and sharing of data for social good initiatives, while upholding ethical standards.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Empowerment through Education: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Invest in training and education programs to build data literacy and data science skills in underserved communities.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Innovation for Impact: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Support research and development of data-driven solutions that address critical social challenges in agriculture and finance.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2025-03-06T21:21:18Z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